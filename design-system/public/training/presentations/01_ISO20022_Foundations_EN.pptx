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afea34c-1940-df33-3e6b-b420e933fb7a}">
          <p14:sldIdLst>
            <p14:sldId id="256"/>
            <p14:sldId id="257"/>
          </p14:sldIdLst>
        </p14:section>
        <p14:section name="Module 1.1" id="{1a69dca6-0f42-0e0f-0f89-7bb6eb2d4df9}">
          <p14:sldIdLst>
            <p14:sldId id="258"/>
            <p14:sldId id="259"/>
            <p14:sldId id="260"/>
            <p14:sldId id="261"/>
          </p14:sldIdLst>
        </p14:section>
        <p14:section name="Module 1.2" id="{e5be0066-4f03-61b4-1ab5-2157863034c8}">
          <p14:sldIdLst>
            <p14:sldId id="262"/>
            <p14:sldId id="263"/>
            <p14:sldId id="264"/>
            <p14:sldId id="265"/>
          </p14:sldIdLst>
        </p14:section>
        <p14:section name="Module 1.3" id="{77519675-e427-3c7f-1be6-59b21054bb53}">
          <p14:sldIdLst>
            <p14:sldId id="266"/>
            <p14:sldId id="267"/>
            <p14:sldId id="268"/>
          </p14:sldIdLst>
        </p14:section>
        <p14:section name="Module 1.4" id="{80a766fd-e23a-9214-547b-9ec2ee832448}">
          <p14:sldIdLst>
            <p14:sldId id="269"/>
            <p14:sldId id="270"/>
            <p14:sldId id="271"/>
          </p14:sldIdLst>
        </p14:section>
        <p14:section name="Wrap" id="{a20dd4ac-d57c-1a07-644d-41d7c7bc38f2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Emphasize framing: this is NOT a future-readiness course. MT/MX coexistence ended 22 Nov 2025 (Source_Register.md #1) — ISO 20022/MX is the live, mandatory operating standard today. Introduce yourself, the 10-day structure, and today's 5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at a high level. Set expectation: exercises are interleaved with content, not saved to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Pause here — ask the room: "who here is still sending MT103 for cross-border payments?" Use responses to set urgency.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Source_Register.md entry #1. This is the single most important framing fact of the whole program — repeat it on Day 2+ as needed. The Inflow Translation Service fee point is a strong motivator for stragglers;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reframing explicitly — this affects how every subsequent module should be taught, not just today's.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SOLUTION (EX-D01-01): Correct order — 1) CBPR+ launch (precedes this course's research window) 2) SR2025 release 3) Coexistence-end announced well in advance 4) 22 Nov 2025 cutover (coexistence ends) 5) Inflow Translation Service fees begin (early 2026) 6) SR2026 address-field change (Nov 2026). Common mistake: participants place the fee start BEFORE the cutover — clarify the fee is a POST-cutover penalty for institutions still relying on translation services, not a pre-cutover cost. Full instructor walkthrough is also published in the training portal under Day 1 → Exercise 1 → Instructor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This module is more technical — slow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3-layer model is the single most important mental model for the whole program — every later message (pacs.008, camt.053, etc.) is taught by walking down these 3 layers. Source: Source_Register.md #3.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Source_Register.md #3. This point (schema-valid ≠ CBPR+-valid) prevents a very common real-world mistake and sets up Day 7 (MyStandards validation) nicely.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SOLUTION (EX-D01-02): MT103→pacs.008 | MT202→pacs.009 | MT202 COV→pacs.009 COV (cover variant, covered in depth Day 3) | MT900/MT910→camt.054 | MT940→camt.053 | MT950→camt.053 (statement; camt.052 is the intraday equivalent, introduced Day 5). Source: Source_Register.md #2. Common mistake: participants map MT900/910 to camt.052 instead of camt.054 — clarify camt.054 is specifically the debit/credit notification, camt.052 is intraday reporting (different use case, taught Day 5). Full answer key in training portal, Day 1 →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table visible/referenced for the rest of the week — consider printing as a handout (ties to Message_Reference_Guide.md, built later). Source: Source_Register.md #2.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SOLUTION (EX-D01-03): This is a scaffolded exercise using static screenshots/handouts rather than live MyStandards access, since licence-tier access is a tracked research gap (Source_Register.md gap #2) to be confirmed before Day 9's MyStandards_Lab_Guide.md is finalized. Commonly-missed mandatory field: UETR (Unique End-to-End Transaction Reference) — participants often assume it's optional metadata; it is mandatory and used for tracking across the full payment chain (ties forward to Day 3 cover-payment tracing and Day 8 lab). Full walkthrough in training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early that full live access comes Day 9 — avoids participants expecting hands-on MyStandards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SOLUTION (EX-D01-04): Key answers — "MT103 can still be used for domestic payments" = TRUE (CBPR+ deadline applies to cross-border FI-to-FI traffic specifically; domestic schemes have their own timelines, not covered by this course's CBPR+ scope). "Coexistence ends in 2026" = FALSE, it ended 22 Nov 2025. "All CBPR+ messages must avoid unstructured addresses" = TRUE starting the Nov 2026 release (not yet mandatory at course-delivery time if before Nov 2026 — flag this date dependency to participants). Full 10-question key with sources in training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final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SOLUTION (EX-D01-05): Expected findings — Risk: translation-service dependency creates delay/rejection exposure and reduces transparency (loses structured data fidelity on inbound translation). Cost: Inflow Translation Service fees apply from early 2026, directly penalizing continued MT reliance. Remediation outline: (1) inventory all outbound MT103/MT202 traffic, (2) prioritize highest-volume corridors for MX cutover first, (3) run parallel validation against CBPR+ usage guidelines before full cutover, (4) decommission MT origination within 90 days with a monitored rollback plan. This case has no single "correct" remediation plan — grade on reasoning quality, not an exact match. Full rubric in training portal, Day 1 → Exercise 5 → Instructor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day. Remind participants of tomorrow's pre-reading if any is assigned (see Participant_Workbook.md, built later).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&amp; SWIFT MX PRACTITIONER PROGRAM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Horizon Training Center — Instructor: Dr. Abeer Alshammari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834640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ISO 20022 &amp; CBPR+ Foundations</a:t>
            </a:r>
            <a:endParaRPr lang="en-US" sz="9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ISO 20022 &amp; CBPR+ Foundations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RCIS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7315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— Day 1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1: ISO 20022 &amp; CBPR+ Foundations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mastery of the mandatory cross-border payments standard — coexistence with MT ended 22 November 2025.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1.1 — Why coexistence ending changes everything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1.2 — The ISO 20022 message model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1.3 — MT family vs MX family: what maps to what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1.4 — Introduction to MyStandards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hands-on exercises (EX-D01-01 through EX-D01-05)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1.1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coexistence ending changes everything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Coexistence Period Is 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November 2025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MT/MX coexistence for CBPR+ cross-border payments ended on this date.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4630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FI-to-FI payment instructions must be sent exclusively in ISO 20022 (MX) from this date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MT 1xx / 2xx / 9xx families no longer meet CBPR+ requirements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MT103 and MT202(COV) are retired for this traffic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Banks still on MT risk delays, rejections, or costly forced conversion via Inflow Translation Service (charged from 2026)</a:t>
            </a:r>
            <a:endParaRPr lang="en-US" sz="1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"Pending Migration" to "Operational Mastery"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framing (pre-Nov 2025):</a:t>
            </a:r>
            <a:endParaRPr lang="en-US" sz="15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500" i="1" dirty="0">
                <a:solidFill>
                  <a:srgbClr val="6D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"Prepare for an upcoming migration to ISO 20022."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framing (this course):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02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"Operate confidently and accurately on the standard that is already mandatory."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EX-D01-01 — Timeline Reconstruction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arrange the 6 provided milestone cards (CBPR+ launch, SR2025 release, coexistence-end announcement, 22 Nov 2025 cutover, Inflow Translation Service fee start, SR2026 address-field change) into correct chronological order. 10 minutes.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states one business consequence of getting the order wrong in a real institution.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1.2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 20022 message model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Every ISO 20022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642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Business Process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664208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2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activity being supported — e.g. "make a cross-border credit transfer."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2644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Message Definition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264408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2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XML schema for that process — e.g. pacs.008.001.xx — published by ISO 20022.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8646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Usage Guideline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864608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2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market-specific narrowing of the schema — e.g. the CBPR+ usage guideline for pacs.008, published on MyStandards — which fields are mandatory in THIS market.</a:t>
            </a:r>
            <a:endParaRPr lang="en-US" sz="1400" dirty="0"/>
          </a:p>
        </p:txBody>
      </p:sp>
      <p:sp>
        <p:nvSpPr>
          <p:cNvPr id="13" name="Text 1"/>
          <p:cNvSpPr/>
          <p:nvPr>
            <p:ph idx="102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in Practice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ISO 20022 schema is broad — it supports many markets and use cases at once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CBPR+ is SWIFT's usage guideline set, narrowing the schema specifically for correspondent banking cross-border payments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CBPR+ comprises a defined set of usage guidelines, versioned on an annual Standards Release cycle (this course references SR2026)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that validates against the base ISO 20022 schema can still FAIL CBPR+ validation — always validate against the usage guideline, not just the schema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EX-D01-02 — MT vs MX Family Matching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MT message type card (MT103, MT202, MT202 COV, MT900, MT910, MT940, MT950) to its ISO 20022 MX equivalent. Individual work, 8 minutes, then compare with your neighbor.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reveals the answer key and explains the one message (MT202 COV) that needs a variant, not a plain equivalent.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1.3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family vs MX family: what maps to what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Message Family Map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 (ISO 20022)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pacs.008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credit transfer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MT202 / MT202 COV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pacs.009 / pacs.009 COV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 credit transfer / cover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MT900 / MT910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camt.054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/ credit confirmation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MT940 / MT950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camt.053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End-of-day statement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(new in MX)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camt.052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Intraday reporting — no direct MT equivalent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EX-D01-03 — MyStandards Navigation Scavenger Hunt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provided MyStandards screenshots/handout, locate: (1) the CBPR+ usage guideline for pacs.008, (2) its current version number, (3) one mandatory field you didn't expect. Small groups, 12 minutes.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share their "unexpected mandatory field" — instructor explains why it's mandatory in CBPR+.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1.4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MyStandards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MyStandards Is — and Isn't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MyStandards is SWIFT's platform for publishing and versioning usage guidelines (including CBPR+)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where you confirm the CURRENT mandatory/optional status of a field — not the base ISO 20022 documentation alone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message-building tool for daily operations — it's a reference and validation resource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tiers vary; this course uses static exports/screenshots for Day 1–7, with a full hands-on lab session on Day 9 (MyStandards_Lab_Guide.md)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EX-D01-04 — "Mandatory Now" Myth-Busting Quiz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true/false statements about current ISO 20022/CBPR+ status (e.g. "MT103 can still be used for domestic payments," "Coexistence ends in 2026"). Individual, 6 minutes, answer on paper.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reads each statement aloud, polls the room by show of hands, then gives the correct answer with source.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Wrap-Up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case + knowledge check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EX-D01-05 — Group Discussion Case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"Northbridge Bank is still sending MT103 for cross-border payments in December 2025, routing through SWIFT's Inflow Translation Service." In groups of 4, identify: (1) the operational risk, (2) the cost implication, (3) a 90-day remediation plan outline. 15 minutes + 10 minutes share-out.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one finding; instructor consolidates into a single "lessons learned" list on the whiteboard.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Recap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ended 22 Nov 2025 — ISO 20022/MX is mandatory now, not "coming"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ISO 20022 message has 3 layers: business process → message definition → usage guideline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MT→MX map: MT103→pacs.008, MT202(COV)→pacs.009(COV), MT900/910→camt.054, MT940/950→camt.053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MyStandards is the authoritative source for current mandatory/optional field status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(Day 2): deep dive into pacs.008 — bring today's MT→MX mapping table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See the training portal for exercise answer keys and the Day 1 knowledge check.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O20022 Practitioner">
  <a:themeElements>
    <a:clrScheme name="ISO20022 Practitioner">
      <a:dk1>
        <a:srgbClr val="1E2761"/>
      </a:dk1>
      <a:lt1>
        <a:srgbClr val="FFFFFF"/>
      </a:lt1>
      <a:dk2>
        <a:srgbClr val="0F1838"/>
      </a:dk2>
      <a:lt2>
        <a:srgbClr val="CADCFC"/>
      </a:lt2>
      <a:accent1>
        <a:srgbClr val="CADCFC"/>
      </a:accent1>
      <a:accent2>
        <a:srgbClr val="E8B64A"/>
      </a:accent2>
      <a:accent3>
        <a:srgbClr val="6D87C9"/>
      </a:accent3>
      <a:accent4>
        <a:srgbClr val="97BC62"/>
      </a:accent4>
      <a:accent5>
        <a:srgbClr val="F96167"/>
      </a:accent5>
      <a:accent6>
        <a:srgbClr val="021024"/>
      </a:accent6>
      <a:hlink>
        <a:srgbClr val="E8B64A"/>
      </a:hlink>
      <a:folHlink>
        <a:srgbClr val="97BC62"/>
      </a:folHlink>
    </a:clrScheme>
    <a:fontScheme name="ISO20022 Practition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Global Horizon Training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2026-10-02T11:16:30Z</dcterms:created>
  <dcterms:modified xsi:type="dcterms:W3CDTF">2026-10-02T11:16:30Z</dcterms:modified>
</cp:coreProperties>
</file>